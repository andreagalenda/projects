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Bold" charset="1" panose="00000800000000000000"/>
      <p:regular r:id="rId22"/>
    </p:embeddedFont>
    <p:embeddedFont>
      <p:font typeface="Open Sauce SemiBold" charset="1" panose="00000700000000000000"/>
      <p:regular r:id="rId23"/>
    </p:embeddedFont>
    <p:embeddedFont>
      <p:font typeface="Open Sauce SemiBold Italics" charset="1" panose="00000700000000000000"/>
      <p:regular r:id="rId24"/>
    </p:embeddedFont>
    <p:embeddedFont>
      <p:font typeface="Open Sauce" charset="1" panose="00000500000000000000"/>
      <p:regular r:id="rId25"/>
    </p:embeddedFont>
    <p:embeddedFont>
      <p:font typeface="Open Sauce SemiBold Bold" charset="1" panose="00000A00000000000000"/>
      <p:regular r:id="rId26"/>
    </p:embeddedFont>
    <p:embeddedFont>
      <p:font typeface="Open Sauce Italics" charset="1" panose="00000500000000000000"/>
      <p:regular r:id="rId27"/>
    </p:embeddedFont>
    <p:embeddedFont>
      <p:font typeface="Open Sans" charset="1" panose="020B06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ressort et amortisseur</a:t>
            </a:r>
          </a:p>
          <a:p>
            <a:r>
              <a:rPr lang="en-US"/>
              <a:t>rigidite et ammortissment </a:t>
            </a:r>
          </a:p>
          <a:p>
            <a:r>
              <a:rPr lang="en-US"/>
              <a:t/>
            </a:r>
          </a:p>
          <a:p>
            <a:r>
              <a:rPr lang="en-US"/>
              <a:t>equation de movement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Te: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couple friction statiuque&gt;dynamique</a:t>
            </a:r>
          </a:p>
          <a:p>
            <a:r>
              <a:rPr lang="en-US"/>
              <a:t/>
            </a:r>
          </a:p>
          <a:p>
            <a:r>
              <a:rPr lang="en-US"/>
              <a:t>accumulation du energie elasique dans le systeme qui porte a des gros oscialltions</a:t>
            </a:r>
          </a:p>
          <a:p>
            <a:r>
              <a:rPr lang="en-US"/>
              <a:t/>
            </a:r>
          </a:p>
          <a:p>
            <a:r>
              <a:rPr lang="en-US"/>
              <a:t>Te: force que le systeme applique sur la roche</a:t>
            </a:r>
          </a:p>
          <a:p>
            <a:r>
              <a:rPr lang="en-US"/>
              <a:t/>
            </a:r>
          </a:p>
          <a:p>
            <a:r>
              <a:rPr lang="en-US"/>
              <a:t>Te&lt;Ts: bouge pas (adherence)</a:t>
            </a:r>
          </a:p>
          <a:p>
            <a:r>
              <a:rPr lang="en-US"/>
              <a:t/>
            </a:r>
          </a:p>
          <a:p>
            <a:r>
              <a:rPr lang="en-US"/>
              <a:t>Dv: seullie de petit vitesse 10-6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deux changement type de roche a 30s et 50s</a:t>
            </a:r>
          </a:p>
          <a:p>
            <a:r>
              <a:rPr lang="en-US"/>
              <a:t/>
            </a:r>
          </a:p>
          <a:p>
            <a:r>
              <a:rPr lang="en-US"/>
              <a:t>70s on baisse le wob</a:t>
            </a:r>
          </a:p>
          <a:p>
            <a:r>
              <a:rPr lang="en-US"/>
              <a:t/>
            </a:r>
          </a:p>
          <a:p>
            <a:r>
              <a:rPr lang="en-US"/>
              <a:t>stabilitè:</a:t>
            </a:r>
          </a:p>
          <a:p>
            <a:r>
              <a:rPr lang="en-US"/>
              <a:t>plus stable si</a:t>
            </a:r>
          </a:p>
          <a:p>
            <a:r>
              <a:rPr lang="en-US"/>
              <a:t>- augment omega</a:t>
            </a:r>
          </a:p>
          <a:p>
            <a:r>
              <a:rPr lang="en-US"/>
              <a:t>- reduire wob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table rotative</a:t>
            </a:r>
          </a:p>
          <a:p>
            <a:r>
              <a:rPr lang="en-US"/>
              <a:t/>
            </a:r>
          </a:p>
          <a:p>
            <a:r>
              <a:rPr lang="en-US"/>
              <a:t>drill pipes: tuyeau de forage</a:t>
            </a:r>
          </a:p>
          <a:p>
            <a:r>
              <a:rPr lang="en-US"/>
              <a:t/>
            </a:r>
          </a:p>
          <a:p>
            <a:r>
              <a:rPr lang="en-US"/>
              <a:t>tete du trepan</a:t>
            </a:r>
          </a:p>
          <a:p>
            <a:r>
              <a:rPr lang="en-US"/>
              <a:t/>
            </a:r>
          </a:p>
          <a:p>
            <a:r>
              <a:rPr lang="en-US"/>
              <a:t>rigiditè </a:t>
            </a:r>
          </a:p>
          <a:p>
            <a:r>
              <a:rPr lang="en-US"/>
              <a:t>ammortisment</a:t>
            </a:r>
          </a:p>
          <a:p>
            <a:r>
              <a:rPr lang="en-US"/>
              <a:t/>
            </a:r>
          </a:p>
          <a:p>
            <a:r>
              <a:rPr lang="en-US"/>
              <a:t>decroissance esponentielle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erreurs</a:t>
            </a:r>
          </a:p>
          <a:p>
            <a:r>
              <a:rPr lang="en-US"/>
              <a:t/>
            </a:r>
          </a:p>
          <a:p>
            <a:r>
              <a:rPr lang="en-US"/>
              <a:t>u* : on part de u* et non de zéro pour avoir une réponse plus rapide, où u* est la valeur du couple de friction statique au niveau de la tete trépan que nous devons vaincre pour démarrer le forage.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D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5925" y="1990658"/>
            <a:ext cx="14936149" cy="6305684"/>
            <a:chOff x="0" y="0"/>
            <a:chExt cx="3933801" cy="1660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801" cy="1660756"/>
            </a:xfrm>
            <a:custGeom>
              <a:avLst/>
              <a:gdLst/>
              <a:ahLst/>
              <a:cxnLst/>
              <a:rect r="r" b="b" t="t" l="l"/>
              <a:pathLst>
                <a:path h="1660756" w="3933801">
                  <a:moveTo>
                    <a:pt x="15550" y="0"/>
                  </a:moveTo>
                  <a:lnTo>
                    <a:pt x="3918250" y="0"/>
                  </a:lnTo>
                  <a:cubicBezTo>
                    <a:pt x="3926839" y="0"/>
                    <a:pt x="3933801" y="6962"/>
                    <a:pt x="3933801" y="15550"/>
                  </a:cubicBezTo>
                  <a:lnTo>
                    <a:pt x="3933801" y="1645206"/>
                  </a:lnTo>
                  <a:cubicBezTo>
                    <a:pt x="3933801" y="1649330"/>
                    <a:pt x="3932162" y="1653286"/>
                    <a:pt x="3929246" y="1656202"/>
                  </a:cubicBezTo>
                  <a:cubicBezTo>
                    <a:pt x="3926330" y="1659118"/>
                    <a:pt x="3922375" y="1660756"/>
                    <a:pt x="3918250" y="1660756"/>
                  </a:cubicBezTo>
                  <a:lnTo>
                    <a:pt x="15550" y="1660756"/>
                  </a:lnTo>
                  <a:cubicBezTo>
                    <a:pt x="11426" y="1660756"/>
                    <a:pt x="7471" y="1659118"/>
                    <a:pt x="4554" y="1656202"/>
                  </a:cubicBezTo>
                  <a:cubicBezTo>
                    <a:pt x="1638" y="1653286"/>
                    <a:pt x="0" y="1649330"/>
                    <a:pt x="0" y="1645206"/>
                  </a:cubicBezTo>
                  <a:lnTo>
                    <a:pt x="0" y="15550"/>
                  </a:lnTo>
                  <a:cubicBezTo>
                    <a:pt x="0" y="11426"/>
                    <a:pt x="1638" y="7471"/>
                    <a:pt x="4554" y="4554"/>
                  </a:cubicBezTo>
                  <a:cubicBezTo>
                    <a:pt x="7471" y="1638"/>
                    <a:pt x="11426" y="0"/>
                    <a:pt x="15550" y="0"/>
                  </a:cubicBezTo>
                  <a:close/>
                </a:path>
              </a:pathLst>
            </a:custGeom>
            <a:solidFill>
              <a:srgbClr val="F7F6F8"/>
            </a:solidFill>
            <a:ln w="19050" cap="rnd">
              <a:solidFill>
                <a:srgbClr val="0A2E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33801" cy="1689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9735" y="3536950"/>
            <a:ext cx="11908530" cy="3213100"/>
            <a:chOff x="0" y="0"/>
            <a:chExt cx="15878039" cy="4284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75821" y="-28575"/>
              <a:ext cx="14194796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A2E76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Sujet n°3: encadré par Hugues MOUNIER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9733"/>
              <a:ext cx="15878039" cy="345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00"/>
                </a:lnSpc>
              </a:pPr>
              <a:r>
                <a:rPr lang="en-US" sz="8500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Vibrations dans un système de forage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6274" y="9586686"/>
            <a:ext cx="13079394" cy="4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EL HAJJ DIB Johan - GALENDA Andrea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44732" y="9586686"/>
            <a:ext cx="13079394" cy="4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 i="true">
                <a:solidFill>
                  <a:srgbClr val="0A2E76"/>
                </a:solidFill>
                <a:latin typeface="Open Sauce SemiBold Italics"/>
                <a:ea typeface="Open Sauce SemiBold Italics"/>
                <a:cs typeface="Open Sauce SemiBold Italics"/>
                <a:sym typeface="Open Sauce SemiBold Italics"/>
              </a:rPr>
              <a:t>Promo 2024 - 2025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875419"/>
            <a:chOff x="0" y="0"/>
            <a:chExt cx="4902258" cy="757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757312"/>
            </a:xfrm>
            <a:custGeom>
              <a:avLst/>
              <a:gdLst/>
              <a:ahLst/>
              <a:cxnLst/>
              <a:rect r="r" b="b" t="t" l="l"/>
              <a:pathLst>
                <a:path h="757312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757312"/>
                  </a:lnTo>
                  <a:lnTo>
                    <a:pt x="0" y="757312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7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5483" y="2895081"/>
            <a:ext cx="7673057" cy="7068804"/>
          </a:xfrm>
          <a:custGeom>
            <a:avLst/>
            <a:gdLst/>
            <a:ahLst/>
            <a:cxnLst/>
            <a:rect r="r" b="b" t="t" l="l"/>
            <a:pathLst>
              <a:path h="7068804" w="7673057">
                <a:moveTo>
                  <a:pt x="0" y="0"/>
                </a:moveTo>
                <a:lnTo>
                  <a:pt x="7673058" y="0"/>
                </a:lnTo>
                <a:lnTo>
                  <a:pt x="7673058" y="7068804"/>
                </a:lnTo>
                <a:lnTo>
                  <a:pt x="0" y="706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4402665" y="9052508"/>
            <a:ext cx="6738271" cy="0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H="true">
            <a:off x="4402665" y="5874952"/>
            <a:ext cx="6738271" cy="0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4402665" y="3852032"/>
            <a:ext cx="6738271" cy="0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4526337" y="3654431"/>
            <a:ext cx="3761663" cy="1359016"/>
            <a:chOff x="0" y="0"/>
            <a:chExt cx="5015550" cy="181202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15550" cy="1812021"/>
              <a:chOff x="0" y="0"/>
              <a:chExt cx="969021" cy="3500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9021" cy="350088"/>
              </a:xfrm>
              <a:custGeom>
                <a:avLst/>
                <a:gdLst/>
                <a:ahLst/>
                <a:cxnLst/>
                <a:rect r="r" b="b" t="t" l="l"/>
                <a:pathLst>
                  <a:path h="350088" w="969021">
                    <a:moveTo>
                      <a:pt x="63126" y="0"/>
                    </a:moveTo>
                    <a:lnTo>
                      <a:pt x="905895" y="0"/>
                    </a:lnTo>
                    <a:cubicBezTo>
                      <a:pt x="940758" y="0"/>
                      <a:pt x="969021" y="28263"/>
                      <a:pt x="969021" y="63126"/>
                    </a:cubicBezTo>
                    <a:lnTo>
                      <a:pt x="969021" y="286962"/>
                    </a:lnTo>
                    <a:cubicBezTo>
                      <a:pt x="969021" y="321826"/>
                      <a:pt x="940758" y="350088"/>
                      <a:pt x="905895" y="350088"/>
                    </a:cubicBezTo>
                    <a:lnTo>
                      <a:pt x="63126" y="350088"/>
                    </a:lnTo>
                    <a:cubicBezTo>
                      <a:pt x="28263" y="350088"/>
                      <a:pt x="0" y="321826"/>
                      <a:pt x="0" y="286962"/>
                    </a:cubicBezTo>
                    <a:lnTo>
                      <a:pt x="0" y="63126"/>
                    </a:lnTo>
                    <a:cubicBezTo>
                      <a:pt x="0" y="28263"/>
                      <a:pt x="28263" y="0"/>
                      <a:pt x="63126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969021" cy="359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20"/>
                  </a:lnSpc>
                  <a:spcBef>
                    <a:spcPct val="0"/>
                  </a:spcBef>
                </a:pPr>
                <a:r>
                  <a:rPr lang="en-US" sz="1708">
                    <a:solidFill>
                      <a:srgbClr val="0A2E76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Transmet le couple​ fourni par le moteur et assure la rotation de la tige de forage.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27058" y="764910"/>
              <a:ext cx="4161435" cy="272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375593">
            <a:off x="13286528" y="3009700"/>
            <a:ext cx="1914407" cy="540820"/>
          </a:xfrm>
          <a:custGeom>
            <a:avLst/>
            <a:gdLst/>
            <a:ahLst/>
            <a:cxnLst/>
            <a:rect r="r" b="b" t="t" l="l"/>
            <a:pathLst>
              <a:path h="540820" w="1914407">
                <a:moveTo>
                  <a:pt x="0" y="540820"/>
                </a:moveTo>
                <a:lnTo>
                  <a:pt x="1914408" y="540820"/>
                </a:lnTo>
                <a:lnTo>
                  <a:pt x="1914408" y="0"/>
                </a:lnTo>
                <a:lnTo>
                  <a:pt x="0" y="0"/>
                </a:lnTo>
                <a:lnTo>
                  <a:pt x="0" y="5408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06762"/>
            <a:ext cx="16230600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90083" y="8835857"/>
            <a:ext cx="9369217" cy="41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1"/>
              </a:lnSpc>
              <a:spcBef>
                <a:spcPct val="0"/>
              </a:spcBef>
            </a:pPr>
            <a:r>
              <a:rPr lang="en-US" sz="2631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Tête du trépan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90083" y="5658301"/>
            <a:ext cx="9369217" cy="41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1"/>
              </a:lnSpc>
              <a:spcBef>
                <a:spcPct val="0"/>
              </a:spcBef>
            </a:pPr>
            <a:r>
              <a:rPr lang="en-US" sz="2631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Tige de forage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90083" y="3635381"/>
            <a:ext cx="9369217" cy="41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1"/>
              </a:lnSpc>
              <a:spcBef>
                <a:spcPct val="0"/>
              </a:spcBef>
            </a:pPr>
            <a:r>
              <a:rPr lang="en-US" sz="2631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Table tournante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140937" y="6739303"/>
            <a:ext cx="2816879" cy="877307"/>
            <a:chOff x="0" y="0"/>
            <a:chExt cx="3755839" cy="116974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755839" cy="1169743"/>
              <a:chOff x="0" y="0"/>
              <a:chExt cx="1124072" cy="35008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24072" cy="350088"/>
              </a:xfrm>
              <a:custGeom>
                <a:avLst/>
                <a:gdLst/>
                <a:ahLst/>
                <a:cxnLst/>
                <a:rect r="r" b="b" t="t" l="l"/>
                <a:pathLst>
                  <a:path h="350088" w="1124072">
                    <a:moveTo>
                      <a:pt x="54419" y="0"/>
                    </a:moveTo>
                    <a:lnTo>
                      <a:pt x="1069653" y="0"/>
                    </a:lnTo>
                    <a:cubicBezTo>
                      <a:pt x="1084086" y="0"/>
                      <a:pt x="1097928" y="5733"/>
                      <a:pt x="1108133" y="15939"/>
                    </a:cubicBezTo>
                    <a:cubicBezTo>
                      <a:pt x="1118339" y="26144"/>
                      <a:pt x="1124072" y="39986"/>
                      <a:pt x="1124072" y="54419"/>
                    </a:cubicBezTo>
                    <a:lnTo>
                      <a:pt x="1124072" y="295670"/>
                    </a:lnTo>
                    <a:cubicBezTo>
                      <a:pt x="1124072" y="325724"/>
                      <a:pt x="1099708" y="350088"/>
                      <a:pt x="1069653" y="350088"/>
                    </a:cubicBezTo>
                    <a:lnTo>
                      <a:pt x="54419" y="350088"/>
                    </a:lnTo>
                    <a:cubicBezTo>
                      <a:pt x="39986" y="350088"/>
                      <a:pt x="26144" y="344355"/>
                      <a:pt x="15939" y="334149"/>
                    </a:cubicBezTo>
                    <a:cubicBezTo>
                      <a:pt x="5733" y="323944"/>
                      <a:pt x="0" y="310102"/>
                      <a:pt x="0" y="295670"/>
                    </a:cubicBezTo>
                    <a:lnTo>
                      <a:pt x="0" y="54419"/>
                    </a:lnTo>
                    <a:cubicBezTo>
                      <a:pt x="0" y="24364"/>
                      <a:pt x="24364" y="0"/>
                      <a:pt x="5441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1124072" cy="369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10"/>
                  </a:lnSpc>
                  <a:spcBef>
                    <a:spcPct val="0"/>
                  </a:spcBef>
                </a:pPr>
                <a:r>
                  <a:rPr lang="en-US" sz="2008">
                    <a:solidFill>
                      <a:srgbClr val="0A2E76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Transmission de l’énergie mécanique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9797" y="490409"/>
              <a:ext cx="3116244" cy="17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5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12568408" y="6072553"/>
            <a:ext cx="6283" cy="576257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 flipH="true">
            <a:off x="12524044" y="7947630"/>
            <a:ext cx="6283" cy="576257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3957816" y="5874952"/>
            <a:ext cx="558416" cy="0"/>
          </a:xfrm>
          <a:prstGeom prst="line">
            <a:avLst/>
          </a:prstGeom>
          <a:ln cap="flat" w="38100">
            <a:solidFill>
              <a:srgbClr val="0A2E7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7" id="27"/>
          <p:cNvSpPr/>
          <p:nvPr/>
        </p:nvSpPr>
        <p:spPr>
          <a:xfrm flipH="true" flipV="true" rot="-1864008">
            <a:off x="11916458" y="4743036"/>
            <a:ext cx="1914407" cy="540820"/>
          </a:xfrm>
          <a:custGeom>
            <a:avLst/>
            <a:gdLst/>
            <a:ahLst/>
            <a:cxnLst/>
            <a:rect r="r" b="b" t="t" l="l"/>
            <a:pathLst>
              <a:path h="540820" w="1914407">
                <a:moveTo>
                  <a:pt x="1914407" y="540820"/>
                </a:moveTo>
                <a:lnTo>
                  <a:pt x="0" y="540820"/>
                </a:lnTo>
                <a:lnTo>
                  <a:pt x="0" y="0"/>
                </a:lnTo>
                <a:lnTo>
                  <a:pt x="1914407" y="0"/>
                </a:lnTo>
                <a:lnTo>
                  <a:pt x="1914407" y="5408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825870" y="5552175"/>
            <a:ext cx="2816879" cy="877307"/>
            <a:chOff x="0" y="0"/>
            <a:chExt cx="3755839" cy="116974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755839" cy="1169743"/>
              <a:chOff x="0" y="0"/>
              <a:chExt cx="1124072" cy="35008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24072" cy="350088"/>
              </a:xfrm>
              <a:custGeom>
                <a:avLst/>
                <a:gdLst/>
                <a:ahLst/>
                <a:cxnLst/>
                <a:rect r="r" b="b" t="t" l="l"/>
                <a:pathLst>
                  <a:path h="350088" w="1124072">
                    <a:moveTo>
                      <a:pt x="54419" y="0"/>
                    </a:moveTo>
                    <a:lnTo>
                      <a:pt x="1069653" y="0"/>
                    </a:lnTo>
                    <a:cubicBezTo>
                      <a:pt x="1084086" y="0"/>
                      <a:pt x="1097928" y="5733"/>
                      <a:pt x="1108133" y="15939"/>
                    </a:cubicBezTo>
                    <a:cubicBezTo>
                      <a:pt x="1118339" y="26144"/>
                      <a:pt x="1124072" y="39986"/>
                      <a:pt x="1124072" y="54419"/>
                    </a:cubicBezTo>
                    <a:lnTo>
                      <a:pt x="1124072" y="295670"/>
                    </a:lnTo>
                    <a:cubicBezTo>
                      <a:pt x="1124072" y="325724"/>
                      <a:pt x="1099708" y="350088"/>
                      <a:pt x="1069653" y="350088"/>
                    </a:cubicBezTo>
                    <a:lnTo>
                      <a:pt x="54419" y="350088"/>
                    </a:lnTo>
                    <a:cubicBezTo>
                      <a:pt x="39986" y="350088"/>
                      <a:pt x="26144" y="344355"/>
                      <a:pt x="15939" y="334149"/>
                    </a:cubicBezTo>
                    <a:cubicBezTo>
                      <a:pt x="5733" y="323944"/>
                      <a:pt x="0" y="310102"/>
                      <a:pt x="0" y="295670"/>
                    </a:cubicBezTo>
                    <a:lnTo>
                      <a:pt x="0" y="54419"/>
                    </a:lnTo>
                    <a:cubicBezTo>
                      <a:pt x="0" y="24364"/>
                      <a:pt x="24364" y="0"/>
                      <a:pt x="5441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9525"/>
                <a:ext cx="1124072" cy="359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20"/>
                  </a:lnSpc>
                  <a:spcBef>
                    <a:spcPct val="0"/>
                  </a:spcBef>
                </a:pPr>
                <a:r>
                  <a:rPr lang="en-US" sz="1708" i="true">
                    <a:solidFill>
                      <a:srgbClr val="0A2E76"/>
                    </a:solidFill>
                    <a:latin typeface="Open Sauce Italics"/>
                    <a:ea typeface="Open Sauce Italics"/>
                    <a:cs typeface="Open Sauce Italics"/>
                    <a:sym typeface="Open Sauce Italics"/>
                  </a:rPr>
                  <a:t>Assure la circulation du fluide de forage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19797" y="490409"/>
              <a:ext cx="3116244" cy="17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5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1159431">
            <a:off x="12293770" y="9551621"/>
            <a:ext cx="1914407" cy="540820"/>
          </a:xfrm>
          <a:custGeom>
            <a:avLst/>
            <a:gdLst/>
            <a:ahLst/>
            <a:cxnLst/>
            <a:rect r="r" b="b" t="t" l="l"/>
            <a:pathLst>
              <a:path h="540820" w="1914407">
                <a:moveTo>
                  <a:pt x="0" y="0"/>
                </a:moveTo>
                <a:lnTo>
                  <a:pt x="1914407" y="0"/>
                </a:lnTo>
                <a:lnTo>
                  <a:pt x="1914407" y="540820"/>
                </a:lnTo>
                <a:lnTo>
                  <a:pt x="0" y="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4825870" y="9258300"/>
            <a:ext cx="2816879" cy="877307"/>
            <a:chOff x="0" y="0"/>
            <a:chExt cx="3755839" cy="1169743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755839" cy="1169743"/>
              <a:chOff x="0" y="0"/>
              <a:chExt cx="1124072" cy="35008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24072" cy="350088"/>
              </a:xfrm>
              <a:custGeom>
                <a:avLst/>
                <a:gdLst/>
                <a:ahLst/>
                <a:cxnLst/>
                <a:rect r="r" b="b" t="t" l="l"/>
                <a:pathLst>
                  <a:path h="350088" w="1124072">
                    <a:moveTo>
                      <a:pt x="54419" y="0"/>
                    </a:moveTo>
                    <a:lnTo>
                      <a:pt x="1069653" y="0"/>
                    </a:lnTo>
                    <a:cubicBezTo>
                      <a:pt x="1084086" y="0"/>
                      <a:pt x="1097928" y="5733"/>
                      <a:pt x="1108133" y="15939"/>
                    </a:cubicBezTo>
                    <a:cubicBezTo>
                      <a:pt x="1118339" y="26144"/>
                      <a:pt x="1124072" y="39986"/>
                      <a:pt x="1124072" y="54419"/>
                    </a:cubicBezTo>
                    <a:lnTo>
                      <a:pt x="1124072" y="295670"/>
                    </a:lnTo>
                    <a:cubicBezTo>
                      <a:pt x="1124072" y="325724"/>
                      <a:pt x="1099708" y="350088"/>
                      <a:pt x="1069653" y="350088"/>
                    </a:cubicBezTo>
                    <a:lnTo>
                      <a:pt x="54419" y="350088"/>
                    </a:lnTo>
                    <a:cubicBezTo>
                      <a:pt x="39986" y="350088"/>
                      <a:pt x="26144" y="344355"/>
                      <a:pt x="15939" y="334149"/>
                    </a:cubicBezTo>
                    <a:cubicBezTo>
                      <a:pt x="5733" y="323944"/>
                      <a:pt x="0" y="310102"/>
                      <a:pt x="0" y="295670"/>
                    </a:cubicBezTo>
                    <a:lnTo>
                      <a:pt x="0" y="54419"/>
                    </a:lnTo>
                    <a:cubicBezTo>
                      <a:pt x="0" y="24364"/>
                      <a:pt x="24364" y="0"/>
                      <a:pt x="5441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1124072" cy="369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10"/>
                  </a:lnSpc>
                  <a:spcBef>
                    <a:spcPct val="0"/>
                  </a:spcBef>
                </a:pPr>
                <a:r>
                  <a:rPr lang="en-US" sz="2008">
                    <a:solidFill>
                      <a:srgbClr val="FF3131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Forage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19797" y="490409"/>
              <a:ext cx="3116244" cy="17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5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875419"/>
            <a:chOff x="0" y="0"/>
            <a:chExt cx="4902258" cy="757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757312"/>
            </a:xfrm>
            <a:custGeom>
              <a:avLst/>
              <a:gdLst/>
              <a:ahLst/>
              <a:cxnLst/>
              <a:rect r="r" b="b" t="t" l="l"/>
              <a:pathLst>
                <a:path h="757312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757312"/>
                  </a:lnTo>
                  <a:lnTo>
                    <a:pt x="0" y="757312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7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5810" y="3419700"/>
            <a:ext cx="12996379" cy="5738860"/>
            <a:chOff x="0" y="0"/>
            <a:chExt cx="17328506" cy="76518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7328506" cy="7651813"/>
              <a:chOff x="0" y="0"/>
              <a:chExt cx="3422915" cy="151146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422915" cy="1511469"/>
              </a:xfrm>
              <a:custGeom>
                <a:avLst/>
                <a:gdLst/>
                <a:ahLst/>
                <a:cxnLst/>
                <a:rect r="r" b="b" t="t" l="l"/>
                <a:pathLst>
                  <a:path h="1511469" w="3422915">
                    <a:moveTo>
                      <a:pt x="17871" y="0"/>
                    </a:moveTo>
                    <a:lnTo>
                      <a:pt x="3405044" y="0"/>
                    </a:lnTo>
                    <a:cubicBezTo>
                      <a:pt x="3409783" y="0"/>
                      <a:pt x="3414329" y="1883"/>
                      <a:pt x="3417681" y="5234"/>
                    </a:cubicBezTo>
                    <a:cubicBezTo>
                      <a:pt x="3421032" y="8586"/>
                      <a:pt x="3422915" y="13131"/>
                      <a:pt x="3422915" y="17871"/>
                    </a:cubicBezTo>
                    <a:lnTo>
                      <a:pt x="3422915" y="1493598"/>
                    </a:lnTo>
                    <a:cubicBezTo>
                      <a:pt x="3422915" y="1503468"/>
                      <a:pt x="3414914" y="1511469"/>
                      <a:pt x="3405044" y="1511469"/>
                    </a:cubicBezTo>
                    <a:lnTo>
                      <a:pt x="17871" y="1511469"/>
                    </a:lnTo>
                    <a:cubicBezTo>
                      <a:pt x="13131" y="1511469"/>
                      <a:pt x="8586" y="1509586"/>
                      <a:pt x="5234" y="1506235"/>
                    </a:cubicBezTo>
                    <a:cubicBezTo>
                      <a:pt x="1883" y="1502884"/>
                      <a:pt x="0" y="1498338"/>
                      <a:pt x="0" y="1493598"/>
                    </a:cubicBezTo>
                    <a:lnTo>
                      <a:pt x="0" y="17871"/>
                    </a:lnTo>
                    <a:cubicBezTo>
                      <a:pt x="0" y="8001"/>
                      <a:pt x="8001" y="0"/>
                      <a:pt x="17871" y="0"/>
                    </a:cubicBezTo>
                    <a:close/>
                  </a:path>
                </a:pathLst>
              </a:custGeom>
              <a:solidFill>
                <a:srgbClr val="F7F6F8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3422915" cy="1540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475465" y="1755172"/>
              <a:ext cx="14377575" cy="4074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4"/>
                </a:lnSpc>
              </a:pPr>
              <a:r>
                <a:rPr lang="en-US" sz="3525">
                  <a:solidFill>
                    <a:srgbClr val="0A2E7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Vibrations de torsion liées au phénomène de stick - slip</a:t>
              </a:r>
            </a:p>
            <a:p>
              <a:pPr algn="ctr">
                <a:lnSpc>
                  <a:spcPts val="4934"/>
                </a:lnSpc>
              </a:pPr>
            </a:p>
            <a:p>
              <a:pPr algn="ctr">
                <a:lnSpc>
                  <a:spcPts val="4934"/>
                </a:lnSpc>
              </a:pPr>
              <a:r>
                <a:rPr lang="en-US" sz="3525">
                  <a:solidFill>
                    <a:srgbClr val="0A2E7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Conséquence : qualité du forage compromise, accélération de l’usure des composants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04303" y="806762"/>
            <a:ext cx="13079394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Problématique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487265" cy="2875419"/>
            <a:chOff x="0" y="0"/>
            <a:chExt cx="4869074" cy="757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9074" cy="757312"/>
            </a:xfrm>
            <a:custGeom>
              <a:avLst/>
              <a:gdLst/>
              <a:ahLst/>
              <a:cxnLst/>
              <a:rect r="r" b="b" t="t" l="l"/>
              <a:pathLst>
                <a:path h="757312" w="4869074">
                  <a:moveTo>
                    <a:pt x="0" y="0"/>
                  </a:moveTo>
                  <a:lnTo>
                    <a:pt x="4869074" y="0"/>
                  </a:lnTo>
                  <a:lnTo>
                    <a:pt x="4869074" y="757312"/>
                  </a:lnTo>
                  <a:lnTo>
                    <a:pt x="0" y="757312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69074" cy="7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34549" y="3264814"/>
            <a:ext cx="4613248" cy="1330319"/>
            <a:chOff x="0" y="0"/>
            <a:chExt cx="6150998" cy="177375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150998" cy="1773758"/>
              <a:chOff x="0" y="0"/>
              <a:chExt cx="1521988" cy="4388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21988" cy="438895"/>
              </a:xfrm>
              <a:custGeom>
                <a:avLst/>
                <a:gdLst/>
                <a:ahLst/>
                <a:cxnLst/>
                <a:rect r="r" b="b" t="t" l="l"/>
                <a:pathLst>
                  <a:path h="438895" w="1521988">
                    <a:moveTo>
                      <a:pt x="40191" y="0"/>
                    </a:moveTo>
                    <a:lnTo>
                      <a:pt x="1481797" y="0"/>
                    </a:lnTo>
                    <a:cubicBezTo>
                      <a:pt x="1492456" y="0"/>
                      <a:pt x="1502679" y="4234"/>
                      <a:pt x="1510217" y="11772"/>
                    </a:cubicBezTo>
                    <a:cubicBezTo>
                      <a:pt x="1517754" y="19309"/>
                      <a:pt x="1521988" y="29532"/>
                      <a:pt x="1521988" y="40191"/>
                    </a:cubicBezTo>
                    <a:lnTo>
                      <a:pt x="1521988" y="398703"/>
                    </a:lnTo>
                    <a:cubicBezTo>
                      <a:pt x="1521988" y="409363"/>
                      <a:pt x="1517754" y="419585"/>
                      <a:pt x="1510217" y="427123"/>
                    </a:cubicBezTo>
                    <a:cubicBezTo>
                      <a:pt x="1502679" y="434660"/>
                      <a:pt x="1492456" y="438895"/>
                      <a:pt x="1481797" y="438895"/>
                    </a:cubicBezTo>
                    <a:lnTo>
                      <a:pt x="40191" y="438895"/>
                    </a:lnTo>
                    <a:cubicBezTo>
                      <a:pt x="17994" y="438895"/>
                      <a:pt x="0" y="420900"/>
                      <a:pt x="0" y="398703"/>
                    </a:cubicBezTo>
                    <a:lnTo>
                      <a:pt x="0" y="40191"/>
                    </a:lnTo>
                    <a:cubicBezTo>
                      <a:pt x="0" y="29532"/>
                      <a:pt x="4234" y="19309"/>
                      <a:pt x="11772" y="11772"/>
                    </a:cubicBezTo>
                    <a:cubicBezTo>
                      <a:pt x="19309" y="4234"/>
                      <a:pt x="29532" y="0"/>
                      <a:pt x="40191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521988" cy="45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1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23737" y="547879"/>
              <a:ext cx="5103523" cy="62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9"/>
                </a:lnSpc>
              </a:pPr>
              <a:r>
                <a:rPr lang="en-US" sz="2814">
                  <a:solidFill>
                    <a:srgbClr val="0A2E7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Equations utilisées :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55939" y="2969554"/>
            <a:ext cx="5487866" cy="4345341"/>
          </a:xfrm>
          <a:custGeom>
            <a:avLst/>
            <a:gdLst/>
            <a:ahLst/>
            <a:cxnLst/>
            <a:rect r="r" b="b" t="t" l="l"/>
            <a:pathLst>
              <a:path h="4345341" w="5487866">
                <a:moveTo>
                  <a:pt x="0" y="0"/>
                </a:moveTo>
                <a:lnTo>
                  <a:pt x="5487865" y="0"/>
                </a:lnTo>
                <a:lnTo>
                  <a:pt x="5487865" y="4345341"/>
                </a:lnTo>
                <a:lnTo>
                  <a:pt x="0" y="4345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5958" y="8164904"/>
            <a:ext cx="3443531" cy="1604038"/>
          </a:xfrm>
          <a:custGeom>
            <a:avLst/>
            <a:gdLst/>
            <a:ahLst/>
            <a:cxnLst/>
            <a:rect r="r" b="b" t="t" l="l"/>
            <a:pathLst>
              <a:path h="1604038" w="3443531">
                <a:moveTo>
                  <a:pt x="0" y="0"/>
                </a:moveTo>
                <a:lnTo>
                  <a:pt x="3443531" y="0"/>
                </a:lnTo>
                <a:lnTo>
                  <a:pt x="3443531" y="1604038"/>
                </a:lnTo>
                <a:lnTo>
                  <a:pt x="0" y="1604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91742" y="8164904"/>
            <a:ext cx="4021391" cy="1604038"/>
          </a:xfrm>
          <a:custGeom>
            <a:avLst/>
            <a:gdLst/>
            <a:ahLst/>
            <a:cxnLst/>
            <a:rect r="r" b="b" t="t" l="l"/>
            <a:pathLst>
              <a:path h="1604038" w="4021391">
                <a:moveTo>
                  <a:pt x="0" y="0"/>
                </a:moveTo>
                <a:lnTo>
                  <a:pt x="4021391" y="0"/>
                </a:lnTo>
                <a:lnTo>
                  <a:pt x="4021391" y="1604038"/>
                </a:lnTo>
                <a:lnTo>
                  <a:pt x="0" y="1604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56269" y="5143500"/>
            <a:ext cx="6969810" cy="1141306"/>
          </a:xfrm>
          <a:custGeom>
            <a:avLst/>
            <a:gdLst/>
            <a:ahLst/>
            <a:cxnLst/>
            <a:rect r="r" b="b" t="t" l="l"/>
            <a:pathLst>
              <a:path h="1141306" w="6969810">
                <a:moveTo>
                  <a:pt x="0" y="0"/>
                </a:moveTo>
                <a:lnTo>
                  <a:pt x="6969810" y="0"/>
                </a:lnTo>
                <a:lnTo>
                  <a:pt x="6969810" y="1141306"/>
                </a:lnTo>
                <a:lnTo>
                  <a:pt x="0" y="114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56269" y="6993444"/>
            <a:ext cx="574560" cy="574560"/>
          </a:xfrm>
          <a:custGeom>
            <a:avLst/>
            <a:gdLst/>
            <a:ahLst/>
            <a:cxnLst/>
            <a:rect r="r" b="b" t="t" l="l"/>
            <a:pathLst>
              <a:path h="574560" w="574560">
                <a:moveTo>
                  <a:pt x="0" y="0"/>
                </a:moveTo>
                <a:lnTo>
                  <a:pt x="574560" y="0"/>
                </a:lnTo>
                <a:lnTo>
                  <a:pt x="574560" y="574560"/>
                </a:lnTo>
                <a:lnTo>
                  <a:pt x="0" y="5745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51057" y="7945829"/>
            <a:ext cx="579772" cy="407988"/>
          </a:xfrm>
          <a:custGeom>
            <a:avLst/>
            <a:gdLst/>
            <a:ahLst/>
            <a:cxnLst/>
            <a:rect r="r" b="b" t="t" l="l"/>
            <a:pathLst>
              <a:path h="407988" w="579772">
                <a:moveTo>
                  <a:pt x="0" y="0"/>
                </a:moveTo>
                <a:lnTo>
                  <a:pt x="579772" y="0"/>
                </a:lnTo>
                <a:lnTo>
                  <a:pt x="579772" y="407987"/>
                </a:lnTo>
                <a:lnTo>
                  <a:pt x="0" y="407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1680" y="971550"/>
            <a:ext cx="16245375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Premier modèle (2 degrés de liberté)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704" y="7539429"/>
            <a:ext cx="176702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Légendes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7870" y="7100086"/>
            <a:ext cx="8364736" cy="35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4"/>
              </a:lnSpc>
              <a:spcBef>
                <a:spcPct val="0"/>
              </a:spcBef>
            </a:pPr>
            <a:r>
              <a:rPr lang="en-US" sz="2303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représente la dynamique de la </a:t>
            </a:r>
            <a:r>
              <a:rPr lang="en-US" sz="2303">
                <a:solidFill>
                  <a:srgbClr val="FF3131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table rotative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57870" y="8002066"/>
            <a:ext cx="8364736" cy="35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4"/>
              </a:lnSpc>
              <a:spcBef>
                <a:spcPct val="0"/>
              </a:spcBef>
            </a:pPr>
            <a:r>
              <a:rPr lang="en-US" sz="2303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représente la dynamique du </a:t>
            </a:r>
            <a:r>
              <a:rPr lang="en-US" sz="2303">
                <a:solidFill>
                  <a:srgbClr val="FF3131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trépan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9" y="-149449"/>
            <a:ext cx="18561989" cy="3444339"/>
            <a:chOff x="0" y="0"/>
            <a:chExt cx="4888754" cy="907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8754" cy="907151"/>
            </a:xfrm>
            <a:custGeom>
              <a:avLst/>
              <a:gdLst/>
              <a:ahLst/>
              <a:cxnLst/>
              <a:rect r="r" b="b" t="t" l="l"/>
              <a:pathLst>
                <a:path h="907151" w="4888754">
                  <a:moveTo>
                    <a:pt x="0" y="0"/>
                  </a:moveTo>
                  <a:lnTo>
                    <a:pt x="4888754" y="0"/>
                  </a:lnTo>
                  <a:lnTo>
                    <a:pt x="4888754" y="907151"/>
                  </a:lnTo>
                  <a:lnTo>
                    <a:pt x="0" y="907151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88754" cy="926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7287" y="3926424"/>
            <a:ext cx="5416621" cy="5386018"/>
          </a:xfrm>
          <a:custGeom>
            <a:avLst/>
            <a:gdLst/>
            <a:ahLst/>
            <a:cxnLst/>
            <a:rect r="r" b="b" t="t" l="l"/>
            <a:pathLst>
              <a:path h="5386018" w="5416621">
                <a:moveTo>
                  <a:pt x="0" y="0"/>
                </a:moveTo>
                <a:lnTo>
                  <a:pt x="5416621" y="0"/>
                </a:lnTo>
                <a:lnTo>
                  <a:pt x="5416621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60782" y="4553392"/>
            <a:ext cx="8001463" cy="1180216"/>
          </a:xfrm>
          <a:custGeom>
            <a:avLst/>
            <a:gdLst/>
            <a:ahLst/>
            <a:cxnLst/>
            <a:rect r="r" b="b" t="t" l="l"/>
            <a:pathLst>
              <a:path h="1180216" w="8001463">
                <a:moveTo>
                  <a:pt x="0" y="0"/>
                </a:moveTo>
                <a:lnTo>
                  <a:pt x="8001462" y="0"/>
                </a:lnTo>
                <a:lnTo>
                  <a:pt x="8001462" y="1180216"/>
                </a:lnTo>
                <a:lnTo>
                  <a:pt x="0" y="1180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83034" y="6990908"/>
            <a:ext cx="5518244" cy="1096617"/>
          </a:xfrm>
          <a:custGeom>
            <a:avLst/>
            <a:gdLst/>
            <a:ahLst/>
            <a:cxnLst/>
            <a:rect r="r" b="b" t="t" l="l"/>
            <a:pathLst>
              <a:path h="1096617" w="5518244">
                <a:moveTo>
                  <a:pt x="0" y="0"/>
                </a:moveTo>
                <a:lnTo>
                  <a:pt x="5518244" y="0"/>
                </a:lnTo>
                <a:lnTo>
                  <a:pt x="5518244" y="1096617"/>
                </a:lnTo>
                <a:lnTo>
                  <a:pt x="0" y="1096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35" t="0" r="-553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80404" y="7042681"/>
            <a:ext cx="6519998" cy="1044843"/>
          </a:xfrm>
          <a:custGeom>
            <a:avLst/>
            <a:gdLst/>
            <a:ahLst/>
            <a:cxnLst/>
            <a:rect r="r" b="b" t="t" l="l"/>
            <a:pathLst>
              <a:path h="1044843" w="6519998">
                <a:moveTo>
                  <a:pt x="0" y="0"/>
                </a:moveTo>
                <a:lnTo>
                  <a:pt x="6519999" y="0"/>
                </a:lnTo>
                <a:lnTo>
                  <a:pt x="6519999" y="1044844"/>
                </a:lnTo>
                <a:lnTo>
                  <a:pt x="0" y="1044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4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3703" y="791247"/>
            <a:ext cx="15620595" cy="1562947"/>
            <a:chOff x="0" y="0"/>
            <a:chExt cx="20827459" cy="208392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14446"/>
              <a:ext cx="20827459" cy="136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5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Modèle de friction de Karnopp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19854424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9" y="-149449"/>
            <a:ext cx="18561989" cy="2301339"/>
            <a:chOff x="0" y="0"/>
            <a:chExt cx="4888754" cy="606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8754" cy="606114"/>
            </a:xfrm>
            <a:custGeom>
              <a:avLst/>
              <a:gdLst/>
              <a:ahLst/>
              <a:cxnLst/>
              <a:rect r="r" b="b" t="t" l="l"/>
              <a:pathLst>
                <a:path h="606114" w="4888754">
                  <a:moveTo>
                    <a:pt x="0" y="0"/>
                  </a:moveTo>
                  <a:lnTo>
                    <a:pt x="4888754" y="0"/>
                  </a:lnTo>
                  <a:lnTo>
                    <a:pt x="4888754" y="606114"/>
                  </a:lnTo>
                  <a:lnTo>
                    <a:pt x="0" y="606114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88754" cy="625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59377" y="2373063"/>
            <a:ext cx="12944338" cy="7248829"/>
          </a:xfrm>
          <a:custGeom>
            <a:avLst/>
            <a:gdLst/>
            <a:ahLst/>
            <a:cxnLst/>
            <a:rect r="r" b="b" t="t" l="l"/>
            <a:pathLst>
              <a:path h="7248829" w="12944338">
                <a:moveTo>
                  <a:pt x="0" y="0"/>
                </a:moveTo>
                <a:lnTo>
                  <a:pt x="12944338" y="0"/>
                </a:lnTo>
                <a:lnTo>
                  <a:pt x="12944338" y="7248829"/>
                </a:lnTo>
                <a:lnTo>
                  <a:pt x="0" y="7248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43410" y="0"/>
            <a:ext cx="11401179" cy="1562947"/>
            <a:chOff x="0" y="0"/>
            <a:chExt cx="15201572" cy="208392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14446"/>
              <a:ext cx="15201572" cy="136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5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Simulation commande fixe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14491372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287591"/>
            <a:chOff x="0" y="0"/>
            <a:chExt cx="4902258" cy="602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602493"/>
            </a:xfrm>
            <a:custGeom>
              <a:avLst/>
              <a:gdLst/>
              <a:ahLst/>
              <a:cxnLst/>
              <a:rect r="r" b="b" t="t" l="l"/>
              <a:pathLst>
                <a:path h="602493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602493"/>
                  </a:lnTo>
                  <a:lnTo>
                    <a:pt x="0" y="602493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62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21155" y="3371892"/>
            <a:ext cx="6591943" cy="512992"/>
          </a:xfrm>
          <a:custGeom>
            <a:avLst/>
            <a:gdLst/>
            <a:ahLst/>
            <a:cxnLst/>
            <a:rect r="r" b="b" t="t" l="l"/>
            <a:pathLst>
              <a:path h="512992" w="6591943">
                <a:moveTo>
                  <a:pt x="0" y="0"/>
                </a:moveTo>
                <a:lnTo>
                  <a:pt x="6591942" y="0"/>
                </a:lnTo>
                <a:lnTo>
                  <a:pt x="6591942" y="512992"/>
                </a:lnTo>
                <a:lnTo>
                  <a:pt x="0" y="512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851" y="479425"/>
            <a:ext cx="1549029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Contrôleur PID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66748" y="2850120"/>
            <a:ext cx="5454407" cy="6327544"/>
          </a:xfrm>
          <a:custGeom>
            <a:avLst/>
            <a:gdLst/>
            <a:ahLst/>
            <a:cxnLst/>
            <a:rect r="r" b="b" t="t" l="l"/>
            <a:pathLst>
              <a:path h="6327544" w="5454407">
                <a:moveTo>
                  <a:pt x="0" y="0"/>
                </a:moveTo>
                <a:lnTo>
                  <a:pt x="5454407" y="0"/>
                </a:lnTo>
                <a:lnTo>
                  <a:pt x="5454407" y="6327544"/>
                </a:lnTo>
                <a:lnTo>
                  <a:pt x="0" y="632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8" t="0" r="-10357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6962" y="2850120"/>
            <a:ext cx="5425320" cy="6328705"/>
          </a:xfrm>
          <a:custGeom>
            <a:avLst/>
            <a:gdLst/>
            <a:ahLst/>
            <a:cxnLst/>
            <a:rect r="r" b="b" t="t" l="l"/>
            <a:pathLst>
              <a:path h="6328705" w="5425320">
                <a:moveTo>
                  <a:pt x="0" y="0"/>
                </a:moveTo>
                <a:lnTo>
                  <a:pt x="5425320" y="0"/>
                </a:lnTo>
                <a:lnTo>
                  <a:pt x="5425320" y="6328706"/>
                </a:lnTo>
                <a:lnTo>
                  <a:pt x="0" y="6328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02" t="0" r="-103703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571944" y="4652980"/>
            <a:ext cx="7690363" cy="3814745"/>
            <a:chOff x="0" y="0"/>
            <a:chExt cx="10253818" cy="50863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40834"/>
              <a:ext cx="10253818" cy="4345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1"/>
                </a:lnSpc>
              </a:pPr>
              <a:r>
                <a:rPr lang="en-US" sz="25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Vitesse de référence : Ω  = 17 rad/s</a:t>
              </a:r>
            </a:p>
            <a:p>
              <a:pPr algn="ctr">
                <a:lnSpc>
                  <a:spcPts val="3251"/>
                </a:lnSpc>
              </a:pPr>
            </a:p>
            <a:p>
              <a:pPr algn="ctr">
                <a:lnSpc>
                  <a:spcPts val="3251"/>
                </a:lnSpc>
              </a:pPr>
              <a:r>
                <a:rPr lang="en-US" sz="25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Couple maximum : umax = 20 Nm</a:t>
              </a:r>
            </a:p>
            <a:p>
              <a:pPr algn="ctr">
                <a:lnSpc>
                  <a:spcPts val="3251"/>
                </a:lnSpc>
              </a:pPr>
            </a:p>
            <a:p>
              <a:pPr algn="ctr">
                <a:lnSpc>
                  <a:spcPts val="3251"/>
                </a:lnSpc>
              </a:pPr>
              <a:r>
                <a:rPr lang="en-US" sz="25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Poids sur l’outil : WOB = 100 N</a:t>
              </a:r>
            </a:p>
            <a:p>
              <a:pPr algn="ctr">
                <a:lnSpc>
                  <a:spcPts val="3251"/>
                </a:lnSpc>
              </a:pPr>
            </a:p>
            <a:p>
              <a:pPr algn="ctr">
                <a:lnSpc>
                  <a:spcPts val="3251"/>
                </a:lnSpc>
              </a:pPr>
              <a:r>
                <a:rPr lang="en-US" sz="25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Paramètres PID après réglages :</a:t>
              </a:r>
            </a:p>
            <a:p>
              <a:pPr algn="ctr" marL="0" indent="0" lvl="0">
                <a:lnSpc>
                  <a:spcPts val="3251"/>
                </a:lnSpc>
                <a:spcBef>
                  <a:spcPct val="0"/>
                </a:spcBef>
              </a:pPr>
              <a:r>
                <a:rPr lang="en-US" sz="25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 Kp = 5, Ki = 4,  Kd = 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9774771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9" y="-149449"/>
            <a:ext cx="18561989" cy="2301339"/>
            <a:chOff x="0" y="0"/>
            <a:chExt cx="4888754" cy="606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8754" cy="606114"/>
            </a:xfrm>
            <a:custGeom>
              <a:avLst/>
              <a:gdLst/>
              <a:ahLst/>
              <a:cxnLst/>
              <a:rect r="r" b="b" t="t" l="l"/>
              <a:pathLst>
                <a:path h="606114" w="4888754">
                  <a:moveTo>
                    <a:pt x="0" y="0"/>
                  </a:moveTo>
                  <a:lnTo>
                    <a:pt x="4888754" y="0"/>
                  </a:lnTo>
                  <a:lnTo>
                    <a:pt x="4888754" y="606114"/>
                  </a:lnTo>
                  <a:lnTo>
                    <a:pt x="0" y="606114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88754" cy="625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08914" y="2416202"/>
            <a:ext cx="13270172" cy="7580586"/>
          </a:xfrm>
          <a:custGeom>
            <a:avLst/>
            <a:gdLst/>
            <a:ahLst/>
            <a:cxnLst/>
            <a:rect r="r" b="b" t="t" l="l"/>
            <a:pathLst>
              <a:path h="7580586" w="13270172">
                <a:moveTo>
                  <a:pt x="0" y="0"/>
                </a:moveTo>
                <a:lnTo>
                  <a:pt x="13270172" y="0"/>
                </a:lnTo>
                <a:lnTo>
                  <a:pt x="13270172" y="7580586"/>
                </a:lnTo>
                <a:lnTo>
                  <a:pt x="0" y="758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5668" y="379256"/>
            <a:ext cx="17736665" cy="1352126"/>
            <a:chOff x="0" y="0"/>
            <a:chExt cx="23648886" cy="18028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33496"/>
              <a:ext cx="23648886" cy="1069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630"/>
                </a:lnSpc>
                <a:spcBef>
                  <a:spcPct val="0"/>
                </a:spcBef>
              </a:pPr>
              <a:r>
                <a:rPr lang="en-US" b="true" sz="5100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Contrôleur PID avec changement du type de roche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22544037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287591"/>
            <a:chOff x="0" y="0"/>
            <a:chExt cx="4902258" cy="602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602493"/>
            </a:xfrm>
            <a:custGeom>
              <a:avLst/>
              <a:gdLst/>
              <a:ahLst/>
              <a:cxnLst/>
              <a:rect r="r" b="b" t="t" l="l"/>
              <a:pathLst>
                <a:path h="602493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602493"/>
                  </a:lnTo>
                  <a:lnTo>
                    <a:pt x="0" y="602493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62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79968" y="4902736"/>
            <a:ext cx="7528064" cy="4117291"/>
          </a:xfrm>
          <a:custGeom>
            <a:avLst/>
            <a:gdLst/>
            <a:ahLst/>
            <a:cxnLst/>
            <a:rect r="r" b="b" t="t" l="l"/>
            <a:pathLst>
              <a:path h="4117291" w="7528064">
                <a:moveTo>
                  <a:pt x="0" y="0"/>
                </a:moveTo>
                <a:lnTo>
                  <a:pt x="7528064" y="0"/>
                </a:lnTo>
                <a:lnTo>
                  <a:pt x="7528064" y="4117291"/>
                </a:lnTo>
                <a:lnTo>
                  <a:pt x="0" y="4117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851" y="479425"/>
            <a:ext cx="1549029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Computed torque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37161" y="1867360"/>
            <a:ext cx="14613678" cy="2288205"/>
            <a:chOff x="0" y="0"/>
            <a:chExt cx="19484903" cy="305093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31309"/>
              <a:ext cx="19484903" cy="2319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83238" indent="-291619" lvl="1">
                <a:lnSpc>
                  <a:spcPts val="3511"/>
                </a:lnSpc>
                <a:buFont typeface="Arial"/>
                <a:buChar char="•"/>
              </a:pPr>
              <a:r>
                <a:rPr lang="en-US" sz="27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Ajustement précis de la vitesse dans un système dynamique</a:t>
              </a:r>
            </a:p>
            <a:p>
              <a:pPr algn="ctr">
                <a:lnSpc>
                  <a:spcPts val="3511"/>
                </a:lnSpc>
              </a:pPr>
            </a:p>
            <a:p>
              <a:pPr algn="ctr" marL="583238" indent="-291619" lvl="1">
                <a:lnSpc>
                  <a:spcPts val="3511"/>
                </a:lnSpc>
                <a:buFont typeface="Arial"/>
                <a:buChar char="•"/>
              </a:pPr>
              <a:r>
                <a:rPr lang="en-US" sz="27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Anticipe la dynamique du système (prise en compte de l’inertie, des frottements internes/externes, de la raideur torsionnelle, des accélérations désirées)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18574591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379968" y="9353402"/>
            <a:ext cx="7528064" cy="83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0"/>
              </a:lnSpc>
              <a:spcBef>
                <a:spcPct val="0"/>
              </a:spcBef>
            </a:pPr>
            <a:r>
              <a:rPr lang="en-US" sz="2600" i="true" u="sng">
                <a:solidFill>
                  <a:srgbClr val="0A2E76"/>
                </a:solidFill>
                <a:latin typeface="Open Sauce SemiBold Italics"/>
                <a:ea typeface="Open Sauce SemiBold Italics"/>
                <a:cs typeface="Open Sauce SemiBold Italics"/>
                <a:sym typeface="Open Sauce SemiBold Italics"/>
              </a:rPr>
              <a:t>Schéma montrant le fonctionnement de la méthode du Computed torque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287591"/>
            <a:chOff x="0" y="0"/>
            <a:chExt cx="4902258" cy="602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602493"/>
            </a:xfrm>
            <a:custGeom>
              <a:avLst/>
              <a:gdLst/>
              <a:ahLst/>
              <a:cxnLst/>
              <a:rect r="r" b="b" t="t" l="l"/>
              <a:pathLst>
                <a:path h="602493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602493"/>
                  </a:lnTo>
                  <a:lnTo>
                    <a:pt x="0" y="602493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62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79889" y="2687095"/>
            <a:ext cx="12128222" cy="5031596"/>
          </a:xfrm>
          <a:custGeom>
            <a:avLst/>
            <a:gdLst/>
            <a:ahLst/>
            <a:cxnLst/>
            <a:rect r="r" b="b" t="t" l="l"/>
            <a:pathLst>
              <a:path h="5031596" w="12128222">
                <a:moveTo>
                  <a:pt x="0" y="0"/>
                </a:moveTo>
                <a:lnTo>
                  <a:pt x="12128222" y="0"/>
                </a:lnTo>
                <a:lnTo>
                  <a:pt x="12128222" y="5031596"/>
                </a:lnTo>
                <a:lnTo>
                  <a:pt x="0" y="503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4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851" y="479425"/>
            <a:ext cx="1549029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Computed torque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7161" y="1838785"/>
            <a:ext cx="13930943" cy="5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7329785"/>
            <a:ext cx="7461763" cy="2587766"/>
            <a:chOff x="0" y="0"/>
            <a:chExt cx="9949018" cy="34503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31309"/>
              <a:ext cx="9949018" cy="2719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sz="2701" b="true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Graphique de gauche : </a:t>
              </a:r>
            </a:p>
            <a:p>
              <a:pPr algn="ctr">
                <a:lnSpc>
                  <a:spcPts val="3511"/>
                </a:lnSpc>
              </a:pPr>
            </a:p>
            <a:p>
              <a:pPr algn="ctr" marL="518469" indent="-259235" lvl="1">
                <a:lnSpc>
                  <a:spcPts val="3121"/>
                </a:lnSpc>
                <a:buFont typeface="Arial"/>
                <a:buChar char="•"/>
              </a:pPr>
              <a:r>
                <a:rPr lang="en-US" sz="24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Vitesse référence atteinte rapidement sans dépassement par le plateau rotatif</a:t>
              </a:r>
            </a:p>
            <a:p>
              <a:pPr algn="ctr">
                <a:lnSpc>
                  <a:spcPts val="3121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9484211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26237" y="7329785"/>
            <a:ext cx="7461763" cy="2587766"/>
            <a:chOff x="0" y="0"/>
            <a:chExt cx="9949018" cy="34503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31309"/>
              <a:ext cx="9949018" cy="2719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sz="2701" b="true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Graphique de droite : </a:t>
              </a:r>
            </a:p>
            <a:p>
              <a:pPr algn="ctr">
                <a:lnSpc>
                  <a:spcPts val="3511"/>
                </a:lnSpc>
              </a:pPr>
            </a:p>
            <a:p>
              <a:pPr algn="ctr" marL="518469" indent="-259235" lvl="1">
                <a:lnSpc>
                  <a:spcPts val="3121"/>
                </a:lnSpc>
                <a:buFont typeface="Arial"/>
                <a:buChar char="•"/>
              </a:pPr>
              <a:r>
                <a:rPr lang="en-US" sz="24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Le trépan suit parfaitement le mouvement du plateau rotatif</a:t>
              </a:r>
            </a:p>
            <a:p>
              <a:pPr algn="ctr">
                <a:lnSpc>
                  <a:spcPts val="3121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9484211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839393" y="9555217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287591"/>
            <a:chOff x="0" y="0"/>
            <a:chExt cx="4902258" cy="602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602493"/>
            </a:xfrm>
            <a:custGeom>
              <a:avLst/>
              <a:gdLst/>
              <a:ahLst/>
              <a:cxnLst/>
              <a:rect r="r" b="b" t="t" l="l"/>
              <a:pathLst>
                <a:path h="602493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602493"/>
                  </a:lnTo>
                  <a:lnTo>
                    <a:pt x="0" y="602493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62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65877" y="4042458"/>
            <a:ext cx="5428666" cy="4486263"/>
          </a:xfrm>
          <a:custGeom>
            <a:avLst/>
            <a:gdLst/>
            <a:ahLst/>
            <a:cxnLst/>
            <a:rect r="r" b="b" t="t" l="l"/>
            <a:pathLst>
              <a:path h="4486263" w="5428666">
                <a:moveTo>
                  <a:pt x="0" y="0"/>
                </a:moveTo>
                <a:lnTo>
                  <a:pt x="5428666" y="0"/>
                </a:lnTo>
                <a:lnTo>
                  <a:pt x="5428666" y="4486263"/>
                </a:lnTo>
                <a:lnTo>
                  <a:pt x="0" y="448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31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890" y="4101981"/>
            <a:ext cx="6117967" cy="4426740"/>
          </a:xfrm>
          <a:custGeom>
            <a:avLst/>
            <a:gdLst/>
            <a:ahLst/>
            <a:cxnLst/>
            <a:rect r="r" b="b" t="t" l="l"/>
            <a:pathLst>
              <a:path h="4426740" w="6117967">
                <a:moveTo>
                  <a:pt x="0" y="0"/>
                </a:moveTo>
                <a:lnTo>
                  <a:pt x="6117967" y="0"/>
                </a:lnTo>
                <a:lnTo>
                  <a:pt x="6117967" y="4426740"/>
                </a:lnTo>
                <a:lnTo>
                  <a:pt x="0" y="4426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1" t="-134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8851" y="479425"/>
            <a:ext cx="1549029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Computed torque vs. PID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7161" y="1838785"/>
            <a:ext cx="13930943" cy="5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301210"/>
            <a:ext cx="7113158" cy="5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2824218" y="3186968"/>
            <a:ext cx="5589778" cy="2975910"/>
            <a:chOff x="0" y="0"/>
            <a:chExt cx="7453037" cy="396787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31309"/>
              <a:ext cx="7453037" cy="3236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sz="2701" b="true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Graphique de gauche : Computed torque</a:t>
              </a:r>
            </a:p>
            <a:p>
              <a:pPr algn="ctr">
                <a:lnSpc>
                  <a:spcPts val="3121"/>
                </a:lnSpc>
              </a:pPr>
              <a:r>
                <a:rPr lang="en-US" sz="24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stabilisation rapide proche de la vitesse cible et pas dépacement majeur</a:t>
              </a:r>
            </a:p>
            <a:p>
              <a:pPr algn="ctr">
                <a:lnSpc>
                  <a:spcPts val="3121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7104839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98222" y="5936888"/>
            <a:ext cx="5589778" cy="2288205"/>
            <a:chOff x="0" y="0"/>
            <a:chExt cx="7453037" cy="305093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31309"/>
              <a:ext cx="7453037" cy="2319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sz="2701" b="true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Graphique de droite : PID</a:t>
              </a:r>
            </a:p>
            <a:p>
              <a:pPr algn="ctr">
                <a:lnSpc>
                  <a:spcPts val="3511"/>
                </a:lnSpc>
              </a:pPr>
              <a:r>
                <a:rPr lang="en-US" sz="2701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 premier dépassement important et oscillations prolongées avant stabilisation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7104839" cy="72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715965" y="9555217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613261" cy="2287591"/>
            <a:chOff x="0" y="0"/>
            <a:chExt cx="4902258" cy="602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58" cy="602493"/>
            </a:xfrm>
            <a:custGeom>
              <a:avLst/>
              <a:gdLst/>
              <a:ahLst/>
              <a:cxnLst/>
              <a:rect r="r" b="b" t="t" l="l"/>
              <a:pathLst>
                <a:path h="602493" w="4902258">
                  <a:moveTo>
                    <a:pt x="0" y="0"/>
                  </a:moveTo>
                  <a:lnTo>
                    <a:pt x="4902258" y="0"/>
                  </a:lnTo>
                  <a:lnTo>
                    <a:pt x="4902258" y="602493"/>
                  </a:lnTo>
                  <a:lnTo>
                    <a:pt x="0" y="602493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02258" cy="62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4147" y="2254712"/>
            <a:ext cx="11301259" cy="5594123"/>
          </a:xfrm>
          <a:custGeom>
            <a:avLst/>
            <a:gdLst/>
            <a:ahLst/>
            <a:cxnLst/>
            <a:rect r="r" b="b" t="t" l="l"/>
            <a:pathLst>
              <a:path h="5594123" w="11301259">
                <a:moveTo>
                  <a:pt x="0" y="0"/>
                </a:moveTo>
                <a:lnTo>
                  <a:pt x="11301258" y="0"/>
                </a:lnTo>
                <a:lnTo>
                  <a:pt x="11301258" y="5594123"/>
                </a:lnTo>
                <a:lnTo>
                  <a:pt x="0" y="559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4147" y="8001035"/>
            <a:ext cx="11301259" cy="1257265"/>
          </a:xfrm>
          <a:custGeom>
            <a:avLst/>
            <a:gdLst/>
            <a:ahLst/>
            <a:cxnLst/>
            <a:rect r="r" b="b" t="t" l="l"/>
            <a:pathLst>
              <a:path h="1257265" w="11301259">
                <a:moveTo>
                  <a:pt x="0" y="0"/>
                </a:moveTo>
                <a:lnTo>
                  <a:pt x="11301258" y="0"/>
                </a:lnTo>
                <a:lnTo>
                  <a:pt x="11301258" y="1257265"/>
                </a:lnTo>
                <a:lnTo>
                  <a:pt x="0" y="125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8851" y="479425"/>
            <a:ext cx="1549029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Computed torque vs. PID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7161" y="1838785"/>
            <a:ext cx="13930943" cy="5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301210"/>
            <a:ext cx="7113158" cy="5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60679" y="4504999"/>
            <a:ext cx="4503420" cy="54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446">
                <a:solidFill>
                  <a:srgbClr val="0A2E7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PID : 36% PLUS LENT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15965" y="9555217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487265" cy="2875419"/>
            <a:chOff x="0" y="0"/>
            <a:chExt cx="4869074" cy="757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9074" cy="757312"/>
            </a:xfrm>
            <a:custGeom>
              <a:avLst/>
              <a:gdLst/>
              <a:ahLst/>
              <a:cxnLst/>
              <a:rect r="r" b="b" t="t" l="l"/>
              <a:pathLst>
                <a:path h="757312" w="4869074">
                  <a:moveTo>
                    <a:pt x="0" y="0"/>
                  </a:moveTo>
                  <a:lnTo>
                    <a:pt x="4869074" y="0"/>
                  </a:lnTo>
                  <a:lnTo>
                    <a:pt x="4869074" y="757312"/>
                  </a:lnTo>
                  <a:lnTo>
                    <a:pt x="0" y="757312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69074" cy="7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65378" y="3264814"/>
            <a:ext cx="4613248" cy="1330319"/>
            <a:chOff x="0" y="0"/>
            <a:chExt cx="6150998" cy="177375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150998" cy="1773758"/>
              <a:chOff x="0" y="0"/>
              <a:chExt cx="1521988" cy="4388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21988" cy="438895"/>
              </a:xfrm>
              <a:custGeom>
                <a:avLst/>
                <a:gdLst/>
                <a:ahLst/>
                <a:cxnLst/>
                <a:rect r="r" b="b" t="t" l="l"/>
                <a:pathLst>
                  <a:path h="438895" w="1521988">
                    <a:moveTo>
                      <a:pt x="40191" y="0"/>
                    </a:moveTo>
                    <a:lnTo>
                      <a:pt x="1481797" y="0"/>
                    </a:lnTo>
                    <a:cubicBezTo>
                      <a:pt x="1492456" y="0"/>
                      <a:pt x="1502679" y="4234"/>
                      <a:pt x="1510217" y="11772"/>
                    </a:cubicBezTo>
                    <a:cubicBezTo>
                      <a:pt x="1517754" y="19309"/>
                      <a:pt x="1521988" y="29532"/>
                      <a:pt x="1521988" y="40191"/>
                    </a:cubicBezTo>
                    <a:lnTo>
                      <a:pt x="1521988" y="398703"/>
                    </a:lnTo>
                    <a:cubicBezTo>
                      <a:pt x="1521988" y="409363"/>
                      <a:pt x="1517754" y="419585"/>
                      <a:pt x="1510217" y="427123"/>
                    </a:cubicBezTo>
                    <a:cubicBezTo>
                      <a:pt x="1502679" y="434660"/>
                      <a:pt x="1492456" y="438895"/>
                      <a:pt x="1481797" y="438895"/>
                    </a:cubicBezTo>
                    <a:lnTo>
                      <a:pt x="40191" y="438895"/>
                    </a:lnTo>
                    <a:cubicBezTo>
                      <a:pt x="17994" y="438895"/>
                      <a:pt x="0" y="420900"/>
                      <a:pt x="0" y="398703"/>
                    </a:cubicBezTo>
                    <a:lnTo>
                      <a:pt x="0" y="40191"/>
                    </a:lnTo>
                    <a:cubicBezTo>
                      <a:pt x="0" y="29532"/>
                      <a:pt x="4234" y="19309"/>
                      <a:pt x="11772" y="11772"/>
                    </a:cubicBezTo>
                    <a:cubicBezTo>
                      <a:pt x="19309" y="4234"/>
                      <a:pt x="29532" y="0"/>
                      <a:pt x="40191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521988" cy="45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1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23737" y="547879"/>
              <a:ext cx="5103523" cy="62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9"/>
                </a:lnSpc>
              </a:pPr>
              <a:r>
                <a:rPr lang="en-US" sz="2814">
                  <a:solidFill>
                    <a:srgbClr val="0A2E7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Equations utilisées :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1907" y="3929973"/>
            <a:ext cx="9671917" cy="5089003"/>
          </a:xfrm>
          <a:custGeom>
            <a:avLst/>
            <a:gdLst/>
            <a:ahLst/>
            <a:cxnLst/>
            <a:rect r="r" b="b" t="t" l="l"/>
            <a:pathLst>
              <a:path h="5089003" w="9671917">
                <a:moveTo>
                  <a:pt x="0" y="0"/>
                </a:moveTo>
                <a:lnTo>
                  <a:pt x="9671917" y="0"/>
                </a:lnTo>
                <a:lnTo>
                  <a:pt x="9671917" y="5089003"/>
                </a:lnTo>
                <a:lnTo>
                  <a:pt x="0" y="5089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74996" y="5395365"/>
            <a:ext cx="6818010" cy="2158219"/>
          </a:xfrm>
          <a:custGeom>
            <a:avLst/>
            <a:gdLst/>
            <a:ahLst/>
            <a:cxnLst/>
            <a:rect r="r" b="b" t="t" l="l"/>
            <a:pathLst>
              <a:path h="2158219" w="6818010">
                <a:moveTo>
                  <a:pt x="0" y="0"/>
                </a:moveTo>
                <a:lnTo>
                  <a:pt x="6818010" y="0"/>
                </a:lnTo>
                <a:lnTo>
                  <a:pt x="6818010" y="2158219"/>
                </a:lnTo>
                <a:lnTo>
                  <a:pt x="0" y="2158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1847" y="971550"/>
            <a:ext cx="16964306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Deuxième modèle (3 degrés de liberté)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15965" y="9555217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9" y="-149449"/>
            <a:ext cx="18561989" cy="2301339"/>
            <a:chOff x="0" y="0"/>
            <a:chExt cx="4888754" cy="606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8754" cy="606114"/>
            </a:xfrm>
            <a:custGeom>
              <a:avLst/>
              <a:gdLst/>
              <a:ahLst/>
              <a:cxnLst/>
              <a:rect r="r" b="b" t="t" l="l"/>
              <a:pathLst>
                <a:path h="606114" w="4888754">
                  <a:moveTo>
                    <a:pt x="0" y="0"/>
                  </a:moveTo>
                  <a:lnTo>
                    <a:pt x="4888754" y="0"/>
                  </a:lnTo>
                  <a:lnTo>
                    <a:pt x="4888754" y="606114"/>
                  </a:lnTo>
                  <a:lnTo>
                    <a:pt x="0" y="606114"/>
                  </a:lnTo>
                  <a:close/>
                </a:path>
              </a:pathLst>
            </a:custGeom>
            <a:solidFill>
              <a:srgbClr val="DDE1B8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88754" cy="625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41472" y="2507672"/>
            <a:ext cx="10205056" cy="6522028"/>
          </a:xfrm>
          <a:custGeom>
            <a:avLst/>
            <a:gdLst/>
            <a:ahLst/>
            <a:cxnLst/>
            <a:rect r="r" b="b" t="t" l="l"/>
            <a:pathLst>
              <a:path h="6522028" w="10205056">
                <a:moveTo>
                  <a:pt x="0" y="0"/>
                </a:moveTo>
                <a:lnTo>
                  <a:pt x="10205056" y="0"/>
                </a:lnTo>
                <a:lnTo>
                  <a:pt x="10205056" y="6522028"/>
                </a:lnTo>
                <a:lnTo>
                  <a:pt x="0" y="65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43410" y="0"/>
            <a:ext cx="11401179" cy="1562947"/>
            <a:chOff x="0" y="0"/>
            <a:chExt cx="15201572" cy="208392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14446"/>
              <a:ext cx="15201572" cy="136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5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0A2E76"/>
                  </a:solidFill>
                  <a:latin typeface="Open Sauce SemiBold Bold"/>
                  <a:ea typeface="Open Sauce SemiBold Bold"/>
                  <a:cs typeface="Open Sauce SemiBold Bold"/>
                  <a:sym typeface="Open Sauce SemiBold Bold"/>
                </a:rPr>
                <a:t>Simulation commande fixe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14491372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15965" y="9555217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265" y="-158974"/>
            <a:ext cx="18487265" cy="2254934"/>
            <a:chOff x="0" y="0"/>
            <a:chExt cx="4869074" cy="59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9074" cy="593892"/>
            </a:xfrm>
            <a:custGeom>
              <a:avLst/>
              <a:gdLst/>
              <a:ahLst/>
              <a:cxnLst/>
              <a:rect r="r" b="b" t="t" l="l"/>
              <a:pathLst>
                <a:path h="593892" w="4869074">
                  <a:moveTo>
                    <a:pt x="0" y="0"/>
                  </a:moveTo>
                  <a:lnTo>
                    <a:pt x="4869074" y="0"/>
                  </a:lnTo>
                  <a:lnTo>
                    <a:pt x="4869074" y="593892"/>
                  </a:lnTo>
                  <a:lnTo>
                    <a:pt x="0" y="593892"/>
                  </a:lnTo>
                  <a:close/>
                </a:path>
              </a:pathLst>
            </a:custGeom>
            <a:solidFill>
              <a:srgbClr val="C3D6EF"/>
            </a:solidFill>
            <a:ln w="19050" cap="sq">
              <a:solidFill>
                <a:srgbClr val="0A2E7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69074" cy="612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6921" y="2192955"/>
            <a:ext cx="4613248" cy="1330319"/>
            <a:chOff x="0" y="0"/>
            <a:chExt cx="6150998" cy="177375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150998" cy="1773758"/>
              <a:chOff x="0" y="0"/>
              <a:chExt cx="1521988" cy="4388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21988" cy="438895"/>
              </a:xfrm>
              <a:custGeom>
                <a:avLst/>
                <a:gdLst/>
                <a:ahLst/>
                <a:cxnLst/>
                <a:rect r="r" b="b" t="t" l="l"/>
                <a:pathLst>
                  <a:path h="438895" w="1521988">
                    <a:moveTo>
                      <a:pt x="40191" y="0"/>
                    </a:moveTo>
                    <a:lnTo>
                      <a:pt x="1481797" y="0"/>
                    </a:lnTo>
                    <a:cubicBezTo>
                      <a:pt x="1492456" y="0"/>
                      <a:pt x="1502679" y="4234"/>
                      <a:pt x="1510217" y="11772"/>
                    </a:cubicBezTo>
                    <a:cubicBezTo>
                      <a:pt x="1517754" y="19309"/>
                      <a:pt x="1521988" y="29532"/>
                      <a:pt x="1521988" y="40191"/>
                    </a:cubicBezTo>
                    <a:lnTo>
                      <a:pt x="1521988" y="398703"/>
                    </a:lnTo>
                    <a:cubicBezTo>
                      <a:pt x="1521988" y="409363"/>
                      <a:pt x="1517754" y="419585"/>
                      <a:pt x="1510217" y="427123"/>
                    </a:cubicBezTo>
                    <a:cubicBezTo>
                      <a:pt x="1502679" y="434660"/>
                      <a:pt x="1492456" y="438895"/>
                      <a:pt x="1481797" y="438895"/>
                    </a:cubicBezTo>
                    <a:lnTo>
                      <a:pt x="40191" y="438895"/>
                    </a:lnTo>
                    <a:cubicBezTo>
                      <a:pt x="17994" y="438895"/>
                      <a:pt x="0" y="420900"/>
                      <a:pt x="0" y="398703"/>
                    </a:cubicBezTo>
                    <a:lnTo>
                      <a:pt x="0" y="40191"/>
                    </a:lnTo>
                    <a:cubicBezTo>
                      <a:pt x="0" y="29532"/>
                      <a:pt x="4234" y="19309"/>
                      <a:pt x="11772" y="11772"/>
                    </a:cubicBezTo>
                    <a:cubicBezTo>
                      <a:pt x="19309" y="4234"/>
                      <a:pt x="29532" y="0"/>
                      <a:pt x="40191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9050" cap="rnd">
                <a:solidFill>
                  <a:srgbClr val="0A2E76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521988" cy="45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1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23737" y="547879"/>
              <a:ext cx="5103523" cy="62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9"/>
                </a:lnSpc>
              </a:pPr>
              <a:r>
                <a:rPr lang="en-US" sz="2814">
                  <a:solidFill>
                    <a:srgbClr val="0A2E76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Equation générale: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30169" y="2502480"/>
            <a:ext cx="7414427" cy="711268"/>
          </a:xfrm>
          <a:custGeom>
            <a:avLst/>
            <a:gdLst/>
            <a:ahLst/>
            <a:cxnLst/>
            <a:rect r="r" b="b" t="t" l="l"/>
            <a:pathLst>
              <a:path h="711268" w="7414427">
                <a:moveTo>
                  <a:pt x="0" y="0"/>
                </a:moveTo>
                <a:lnTo>
                  <a:pt x="7414427" y="0"/>
                </a:lnTo>
                <a:lnTo>
                  <a:pt x="7414427" y="711268"/>
                </a:lnTo>
                <a:lnTo>
                  <a:pt x="0" y="711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56321" y="2581274"/>
            <a:ext cx="4069831" cy="632474"/>
          </a:xfrm>
          <a:custGeom>
            <a:avLst/>
            <a:gdLst/>
            <a:ahLst/>
            <a:cxnLst/>
            <a:rect r="r" b="b" t="t" l="l"/>
            <a:pathLst>
              <a:path h="632474" w="4069831">
                <a:moveTo>
                  <a:pt x="0" y="0"/>
                </a:moveTo>
                <a:lnTo>
                  <a:pt x="4069832" y="0"/>
                </a:lnTo>
                <a:lnTo>
                  <a:pt x="4069832" y="632474"/>
                </a:lnTo>
                <a:lnTo>
                  <a:pt x="0" y="632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9167" y="4504349"/>
            <a:ext cx="7602005" cy="5652140"/>
          </a:xfrm>
          <a:custGeom>
            <a:avLst/>
            <a:gdLst/>
            <a:ahLst/>
            <a:cxnLst/>
            <a:rect r="r" b="b" t="t" l="l"/>
            <a:pathLst>
              <a:path h="5652140" w="7602005">
                <a:moveTo>
                  <a:pt x="0" y="0"/>
                </a:moveTo>
                <a:lnTo>
                  <a:pt x="7602005" y="0"/>
                </a:lnTo>
                <a:lnTo>
                  <a:pt x="7602005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23327" y="4521182"/>
            <a:ext cx="7465989" cy="5618473"/>
          </a:xfrm>
          <a:custGeom>
            <a:avLst/>
            <a:gdLst/>
            <a:ahLst/>
            <a:cxnLst/>
            <a:rect r="r" b="b" t="t" l="l"/>
            <a:pathLst>
              <a:path h="5618473" w="7465989">
                <a:moveTo>
                  <a:pt x="0" y="0"/>
                </a:moveTo>
                <a:lnTo>
                  <a:pt x="7465989" y="0"/>
                </a:lnTo>
                <a:lnTo>
                  <a:pt x="7465989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23545" y="4018574"/>
            <a:ext cx="5632277" cy="4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Sans utiliser u*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7216" y="2618783"/>
            <a:ext cx="466485" cy="45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3"/>
              </a:lnSpc>
              <a:spcBef>
                <a:spcPct val="0"/>
              </a:spcBef>
            </a:pPr>
            <a:r>
              <a:rPr lang="en-US" sz="2810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247" y="631825"/>
            <a:ext cx="16964306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50"/>
              </a:lnSpc>
              <a:spcBef>
                <a:spcPct val="0"/>
              </a:spcBef>
            </a:pPr>
            <a:r>
              <a:rPr lang="en-US" b="true" sz="6500">
                <a:solidFill>
                  <a:srgbClr val="0A2E76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Contrôleur 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40183" y="4013848"/>
            <a:ext cx="5632277" cy="4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0A2E76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En utilisant u*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715965" y="9555217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1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5925" y="1990658"/>
            <a:ext cx="14936149" cy="6305684"/>
            <a:chOff x="0" y="0"/>
            <a:chExt cx="3933801" cy="1660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801" cy="1660756"/>
            </a:xfrm>
            <a:custGeom>
              <a:avLst/>
              <a:gdLst/>
              <a:ahLst/>
              <a:cxnLst/>
              <a:rect r="r" b="b" t="t" l="l"/>
              <a:pathLst>
                <a:path h="1660756" w="3933801">
                  <a:moveTo>
                    <a:pt x="15550" y="0"/>
                  </a:moveTo>
                  <a:lnTo>
                    <a:pt x="3918250" y="0"/>
                  </a:lnTo>
                  <a:cubicBezTo>
                    <a:pt x="3926839" y="0"/>
                    <a:pt x="3933801" y="6962"/>
                    <a:pt x="3933801" y="15550"/>
                  </a:cubicBezTo>
                  <a:lnTo>
                    <a:pt x="3933801" y="1645206"/>
                  </a:lnTo>
                  <a:cubicBezTo>
                    <a:pt x="3933801" y="1649330"/>
                    <a:pt x="3932162" y="1653286"/>
                    <a:pt x="3929246" y="1656202"/>
                  </a:cubicBezTo>
                  <a:cubicBezTo>
                    <a:pt x="3926330" y="1659118"/>
                    <a:pt x="3922375" y="1660756"/>
                    <a:pt x="3918250" y="1660756"/>
                  </a:cubicBezTo>
                  <a:lnTo>
                    <a:pt x="15550" y="1660756"/>
                  </a:lnTo>
                  <a:cubicBezTo>
                    <a:pt x="11426" y="1660756"/>
                    <a:pt x="7471" y="1659118"/>
                    <a:pt x="4554" y="1656202"/>
                  </a:cubicBezTo>
                  <a:cubicBezTo>
                    <a:pt x="1638" y="1653286"/>
                    <a:pt x="0" y="1649330"/>
                    <a:pt x="0" y="1645206"/>
                  </a:cubicBezTo>
                  <a:lnTo>
                    <a:pt x="0" y="15550"/>
                  </a:lnTo>
                  <a:cubicBezTo>
                    <a:pt x="0" y="11426"/>
                    <a:pt x="1638" y="7471"/>
                    <a:pt x="4554" y="4554"/>
                  </a:cubicBezTo>
                  <a:cubicBezTo>
                    <a:pt x="7471" y="1638"/>
                    <a:pt x="11426" y="0"/>
                    <a:pt x="15550" y="0"/>
                  </a:cubicBezTo>
                  <a:close/>
                </a:path>
              </a:pathLst>
            </a:custGeom>
            <a:solidFill>
              <a:srgbClr val="F7F6F8"/>
            </a:solidFill>
            <a:ln w="19050" cap="rnd">
              <a:solidFill>
                <a:srgbClr val="0A2E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33801" cy="1689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9735" y="3222866"/>
            <a:ext cx="11908530" cy="3213100"/>
            <a:chOff x="0" y="0"/>
            <a:chExt cx="15878039" cy="4284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75821" y="-28575"/>
              <a:ext cx="14194796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9733"/>
              <a:ext cx="15878039" cy="345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00"/>
                </a:lnSpc>
              </a:pPr>
              <a:r>
                <a:rPr lang="en-US" sz="8500">
                  <a:solidFill>
                    <a:srgbClr val="0A2E76"/>
                  </a:solidFill>
                  <a:latin typeface="Open Sauce SemiBold"/>
                  <a:ea typeface="Open Sauce SemiBold"/>
                  <a:cs typeface="Open Sauce SemiBold"/>
                  <a:sym typeface="Open Sauce SemiBold"/>
                </a:rPr>
                <a:t>Merci pour votre écoute !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6163" y="178911"/>
            <a:ext cx="2843459" cy="876408"/>
          </a:xfrm>
          <a:custGeom>
            <a:avLst/>
            <a:gdLst/>
            <a:ahLst/>
            <a:cxnLst/>
            <a:rect r="r" b="b" t="t" l="l"/>
            <a:pathLst>
              <a:path h="876408" w="2843459">
                <a:moveTo>
                  <a:pt x="0" y="0"/>
                </a:moveTo>
                <a:lnTo>
                  <a:pt x="2843459" y="0"/>
                </a:lnTo>
                <a:lnTo>
                  <a:pt x="2843459" y="876408"/>
                </a:lnTo>
                <a:lnTo>
                  <a:pt x="0" y="87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DAGfkPrDd1s</dc:identifier>
  <dcterms:modified xsi:type="dcterms:W3CDTF">2011-08-01T06:04:30Z</dcterms:modified>
  <cp:revision>1</cp:revision>
  <dc:title>V</dc:title>
</cp:coreProperties>
</file>